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073c1d3a_2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073c1d3a_2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4073c1d3a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Satellite networks face unique challenges that break traditional TCP/IP protocols. As satellites orbit, they move in and out of contact range, creating intermittent connectivity with delays up to several seconds.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assumes always-on connections and fails when links are temporarily unavailable.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DTN solves this through store-and-forward routing, researchers lack realistic simulators to test and compare routing algorithms under actual satellite conditions.</a:t>
            </a:r>
            <a:endParaRPr/>
          </a:p>
        </p:txBody>
      </p:sp>
      <p:sp>
        <p:nvSpPr>
          <p:cNvPr id="67" name="Google Shape;67;g3a4073c1d3a_4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4147017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built a comprehensive DTN simulator specifically for satellite constellations. It models real orbital mechanics, RF signal propagation, and atmospheric effects like rain fade.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Researchers can upload custom satellite configurations via CSV, compare routing protocol performance, and rapidly prototype new algorithms.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3D visualization and 3600x time acceleration let users observe days of network behavior in minutes, making it a practical tool for satellite network research.</a:t>
            </a:r>
            <a:endParaRPr/>
          </a:p>
        </p:txBody>
      </p:sp>
      <p:sp>
        <p:nvSpPr>
          <p:cNvPr id="74" name="Google Shape;74;g3a41470178f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4073c1d3a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architecture is organized into four key components.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backend, built with Python FastAPI, handles all the simulation physics - RF modeling that calculates signal strength between satellites and comprehensive link budget analysis to determine when communication is possible.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frontend uses React for the user interface combined with Three.js for 3D satellite visualization, giving users an intuitive view of their constellation and real-time connectivity status as satellites orbit.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routing engine implements three DTN protocols: Epidemic, which floods messages across the network; PRoPHET, which uses probabilistic routing based on contact patterns; and Spray-and-Wait, which intelligently limits message copies to reduce network overhead.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modular design ensures extensibility - researchers can easily add new routing algorithms or modify existing ones without overhauling the entire system.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g3a4073c1d3a_4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4073c1d3a_4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4073c1d3a_4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073c1d3a_4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simulator models realistic DTN communication—bundles have TTLs and unique IDs, links account for RF propagation including weather effects, and we implemented three routing protocols: Epidemic, PRoPHET, and Spray-and-Wait. Orbital mechanics drive contact windows using real Keplerian propagation.</a:t>
            </a:r>
            <a:endParaRPr/>
          </a:p>
        </p:txBody>
      </p:sp>
      <p:sp>
        <p:nvSpPr>
          <p:cNvPr id="95" name="Google Shape;95;g3a4073c1d3a_4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073c1d3a_2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GUI provides a 3D Earth view with live satellite positions and animated packet transfers. </a:t>
            </a:r>
            <a:br>
              <a:rPr lang="en"/>
            </a:br>
            <a:br>
              <a:rPr lang="en"/>
            </a:br>
            <a:r>
              <a:rPr lang="en"/>
              <a:t>You can see buffer utilization, contact schedules via Gantt charts, and key metrics like delivery ratio. </a:t>
            </a:r>
            <a:br>
              <a:rPr lang="en"/>
            </a:br>
            <a:br>
              <a:rPr lang="en"/>
            </a:br>
            <a:r>
              <a:rPr lang="en"/>
              <a:t>Our experiment framework lets you compare protocols, sweep buffer sizes, and test TTL configurations.</a:t>
            </a:r>
            <a:endParaRPr/>
          </a:p>
        </p:txBody>
      </p:sp>
      <p:sp>
        <p:nvSpPr>
          <p:cNvPr id="101" name="Google Shape;101;g3a4073c1d3a_2_7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073c1d3a_4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limitations include our satellite-only scope, which excludes terrestrial wireless networks. </a:t>
            </a:r>
            <a:br>
              <a:rPr lang="en"/>
            </a:br>
            <a:br>
              <a:rPr lang="en"/>
            </a:br>
            <a:r>
              <a:rPr lang="en"/>
              <a:t>While the backend calculates many metrics, some aren't exposed in the UI.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Inter-satellite link routing works but we removed its visualization to keep the interface clean and focused.</a:t>
            </a:r>
            <a:endParaRPr/>
          </a:p>
        </p:txBody>
      </p:sp>
      <p:sp>
        <p:nvSpPr>
          <p:cNvPr id="107" name="Google Shape;107;g3a4073c1d3a_4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073c1d3a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from the top — Layer 7 provides our REST API and experiment framework.</a:t>
            </a:r>
            <a:br>
              <a:rPr lang="en"/>
            </a:br>
            <a:br>
              <a:rPr lang="en"/>
            </a:br>
            <a:r>
              <a:rPr lang="en"/>
              <a:t>Layer 6 handles bundle serialization using JSON and Pydantic models.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5 manages contact windows and predictive scheduling based on orbital mechanics. </a:t>
            </a:r>
            <a:br>
              <a:rPr lang="en"/>
            </a:br>
            <a:br>
              <a:rPr lang="en"/>
            </a:br>
            <a:r>
              <a:rPr lang="en"/>
              <a:t>Layer 4 implements the Bundle Protocol with lifetime, priority, and custody transfer flags. </a:t>
            </a:r>
            <a:br>
              <a:rPr lang="en"/>
            </a:br>
            <a:br>
              <a:rPr lang="en"/>
            </a:br>
            <a:r>
              <a:rPr lang="en"/>
              <a:t>Layer 3 is where our three routing algorithms live — Epidemic, PRoPHET, and Spray-and-Wait — using DTN endpoint identifiers. </a:t>
            </a:r>
            <a:br>
              <a:rPr lang="en"/>
            </a:br>
            <a:br>
              <a:rPr lang="en"/>
            </a:br>
            <a:r>
              <a:rPr lang="en"/>
              <a:t>Layer 2 handles store-and-forward and contact-based transmission. </a:t>
            </a:r>
            <a:br>
              <a:rPr lang="en"/>
            </a:br>
            <a:br>
              <a:rPr lang="en"/>
            </a:br>
            <a:r>
              <a:rPr lang="en"/>
              <a:t>Layer 1 models RF link budgets, frequency bands, and weather effects, though it's all simulated rather than actual bit transmission.</a:t>
            </a:r>
            <a:endParaRPr/>
          </a:p>
        </p:txBody>
      </p:sp>
      <p:sp>
        <p:nvSpPr>
          <p:cNvPr id="113" name="Google Shape;113;g3a4073c1d3a_4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4073c1d3a_4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simulator abstracts several DTN features to focus on core routing behavior. </a:t>
            </a:r>
            <a:br>
              <a:rPr lang="en"/>
            </a:br>
            <a:br>
              <a:rPr lang="en"/>
            </a:br>
            <a:r>
              <a:rPr lang="en"/>
              <a:t>We use deterministic orbital mechanics instead of dynamic discovery protocols, treat bundles as atomic units without fragmentation, and simplify custody transfers. </a:t>
            </a:r>
            <a:br>
              <a:rPr lang="en"/>
            </a:br>
            <a:br>
              <a:rPr lang="en"/>
            </a:br>
            <a:r>
              <a:rPr lang="en"/>
              <a:t>This keeps the simulation tractable while preserving the essential store-and-forward characteristics we're studying.</a:t>
            </a:r>
            <a:endParaRPr/>
          </a:p>
        </p:txBody>
      </p:sp>
      <p:sp>
        <p:nvSpPr>
          <p:cNvPr id="119" name="Google Shape;119;g3a4073c1d3a_4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073c1d3a_4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 research perspective, this tool enables direct comparison of DTN routing protocols under realistic conditions. </a:t>
            </a:r>
            <a:br>
              <a:rPr lang="en"/>
            </a:br>
            <a:br>
              <a:rPr lang="en"/>
            </a:br>
            <a:r>
              <a:rPr lang="en"/>
              <a:t>You could use it to test new constellation configurations, evaluate where to place ground stations for best coverage, or study how weather degrades link quality, all without needing actual satellites.</a:t>
            </a:r>
            <a:endParaRPr/>
          </a:p>
        </p:txBody>
      </p:sp>
      <p:sp>
        <p:nvSpPr>
          <p:cNvPr id="125" name="Google Shape;125;g3a4073c1d3a_4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4073c1d3a_2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future work, we'd add more routing algorithms like MaxProp and RAPID. </a:t>
            </a:r>
            <a:br>
              <a:rPr lang="en"/>
            </a:br>
            <a:br>
              <a:rPr lang="en"/>
            </a:br>
            <a:r>
              <a:rPr lang="en"/>
              <a:t>Security features like encryption would be important for real-world use. </a:t>
            </a:r>
            <a:br>
              <a:rPr lang="en"/>
            </a:br>
            <a:br>
              <a:rPr lang="en"/>
            </a:br>
            <a:r>
              <a:rPr lang="en"/>
              <a:t>Longer term, we could integrate machine learning for smarter routing decisions, support mobile ground stations, or even connect to real satellite tracking systems.</a:t>
            </a:r>
            <a:endParaRPr/>
          </a:p>
        </p:txBody>
      </p:sp>
      <p:sp>
        <p:nvSpPr>
          <p:cNvPr id="133" name="Google Shape;133;g3a4073c1d3a_2_7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073c1d3a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4073c1d3a_4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1606125"/>
            <a:ext cx="9144000" cy="1514100"/>
          </a:xfrm>
          <a:prstGeom prst="rect">
            <a:avLst/>
          </a:prstGeom>
          <a:solidFill>
            <a:srgbClr val="0C1626">
              <a:alpha val="8239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40"/>
              <a:t>Delay Tolerant Network Simulator</a:t>
            </a:r>
            <a:endParaRPr sz="42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240"/>
          </a:p>
        </p:txBody>
      </p:sp>
      <p:sp>
        <p:nvSpPr>
          <p:cNvPr id="61" name="Google Shape;61;p14"/>
          <p:cNvSpPr txBox="1"/>
          <p:nvPr/>
        </p:nvSpPr>
        <p:spPr>
          <a:xfrm>
            <a:off x="20975" y="4092400"/>
            <a:ext cx="3769800" cy="6876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lt2"/>
                </a:solidFill>
              </a:rPr>
              <a:t>CS-576 Group 7 | </a:t>
            </a:r>
            <a:r>
              <a:rPr i="1" lang="en" sz="2000">
                <a:solidFill>
                  <a:schemeClr val="lt2"/>
                </a:solidFill>
              </a:rPr>
              <a:t>December</a:t>
            </a:r>
            <a:r>
              <a:rPr i="1" lang="en" sz="2000">
                <a:solidFill>
                  <a:schemeClr val="lt2"/>
                </a:solidFill>
              </a:rPr>
              <a:t> 2025</a:t>
            </a:r>
            <a:endParaRPr i="1" sz="2000">
              <a:solidFill>
                <a:schemeClr val="lt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71875" y="2292575"/>
            <a:ext cx="751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2"/>
                </a:solidFill>
              </a:rPr>
              <a:t>A simulation framework for routing in intermittently connected satellite networks</a:t>
            </a:r>
            <a:endParaRPr i="1" sz="1600">
              <a:solidFill>
                <a:schemeClr val="lt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358500" y="-1323650"/>
            <a:ext cx="5675700" cy="461700"/>
          </a:xfrm>
          <a:prstGeom prst="rect">
            <a:avLst/>
          </a:prstGeom>
          <a:solidFill>
            <a:srgbClr val="0142AE">
              <a:alpha val="478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0975" y="4766100"/>
            <a:ext cx="3742500" cy="3774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700">
                <a:solidFill>
                  <a:schemeClr val="dk1"/>
                </a:solidFill>
              </a:rPr>
              <a:t>Jordan Kelley, Antonio Toledo, Hosna Hyat, Chad Childers, Connor Symons, Maeki K, Mir Zaman Hayat</a:t>
            </a:r>
            <a:endParaRPr b="1" i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517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Problem Statement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18650" y="1090450"/>
            <a:ext cx="8096700" cy="37245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75">
                <a:solidFill>
                  <a:schemeClr val="dk1"/>
                </a:solidFill>
              </a:rPr>
              <a:t>Space-based communication networks face unique constraints: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Intermittent connectivity as satellites move in/out of range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Propagation delays of 500ms-several seconds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Limited contact windows between ground stations and satellites</a:t>
            </a:r>
            <a:endParaRPr sz="1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75">
                <a:solidFill>
                  <a:schemeClr val="dk1"/>
                </a:solidFill>
              </a:rPr>
              <a:t>Traditional TCP/IP protocols fail in these conditions: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Assumes always-on connectivity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Connection timeouts cause packet loss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Requires end-to-end paths to exist simultaneously</a:t>
            </a:r>
            <a:endParaRPr sz="1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75">
                <a:solidFill>
                  <a:schemeClr val="dk1"/>
                </a:solidFill>
              </a:rPr>
              <a:t>Delay/Disruption Tolerant Networking (DTN) solves this through store-and-forward: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But lacks accessible tools for testing routing algorithms</a:t>
            </a:r>
            <a:endParaRPr sz="1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75">
              <a:solidFill>
                <a:schemeClr val="dk1"/>
              </a:solidFill>
            </a:endParaRPr>
          </a:p>
        </p:txBody>
      </p:sp>
      <p:pic>
        <p:nvPicPr>
          <p:cNvPr id="71" name="Google Shape;71;p15" title="image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425" y="1090450"/>
            <a:ext cx="2040225" cy="11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/>
              <a:t>Our Solution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302900" cy="35739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75">
                <a:solidFill>
                  <a:schemeClr val="dk1"/>
                </a:solidFill>
              </a:rPr>
              <a:t>A realistic Earth-based DTN simulator specifically designed for satellite constellation networks that enables: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Performance comparison of DTN routing protocols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Visualization of satellite link availability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Real-world RF modeling with atmospheric effects</a:t>
            </a:r>
            <a:endParaRPr sz="1675">
              <a:solidFill>
                <a:schemeClr val="dk1"/>
              </a:solidFill>
            </a:endParaRPr>
          </a:p>
          <a:p>
            <a:pPr indent="-3349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5"/>
              <a:buChar char="●"/>
            </a:pPr>
            <a:r>
              <a:rPr lang="en" sz="1675">
                <a:solidFill>
                  <a:schemeClr val="dk1"/>
                </a:solidFill>
              </a:rPr>
              <a:t>Rapid prototyping of new routing algorithms</a:t>
            </a:r>
            <a:endParaRPr sz="1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75">
              <a:solidFill>
                <a:schemeClr val="dk1"/>
              </a:solidFill>
            </a:endParaRPr>
          </a:p>
        </p:txBody>
      </p:sp>
      <p:pic>
        <p:nvPicPr>
          <p:cNvPr id="78" name="Google Shape;78;p16" title="Screenshot 2025-12-04 at 8.47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28376"/>
            <a:ext cx="4621324" cy="256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/>
              <a:t>Solution </a:t>
            </a:r>
            <a:r>
              <a:rPr lang="en" sz="4400">
                <a:solidFill>
                  <a:schemeClr val="dk1"/>
                </a:solidFill>
              </a:rPr>
              <a:t>Architecture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17278" r="16496" t="0"/>
          <a:stretch/>
        </p:blipFill>
        <p:spPr>
          <a:xfrm>
            <a:off x="5234050" y="1201825"/>
            <a:ext cx="1515993" cy="128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8375" y="1421558"/>
            <a:ext cx="1516000" cy="848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5">
            <a:alphaModFix/>
          </a:blip>
          <a:srcRect b="18190" l="28130" r="27210" t="16114"/>
          <a:stretch/>
        </p:blipFill>
        <p:spPr>
          <a:xfrm>
            <a:off x="6310501" y="3072550"/>
            <a:ext cx="1198299" cy="11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421550"/>
            <a:ext cx="4762800" cy="31968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Backend (FastAPI):</a:t>
            </a:r>
            <a:r>
              <a:rPr lang="en" sz="2000">
                <a:solidFill>
                  <a:schemeClr val="dk1"/>
                </a:solidFill>
              </a:rPr>
              <a:t> RF modeling &amp; link budget calculations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Frontend (React + Three.js):</a:t>
            </a:r>
            <a:r>
              <a:rPr lang="en" sz="2000">
                <a:solidFill>
                  <a:schemeClr val="dk1"/>
                </a:solidFill>
              </a:rPr>
              <a:t> 3D satellite visualization &amp; UI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Routing Engine:</a:t>
            </a:r>
            <a:r>
              <a:rPr lang="en" sz="2000">
                <a:solidFill>
                  <a:schemeClr val="dk1"/>
                </a:solidFill>
              </a:rPr>
              <a:t> Epidemic, PRoPHET, Spray-and-Wait protocols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Modular design</a:t>
            </a:r>
            <a:r>
              <a:rPr lang="en" sz="2000">
                <a:solidFill>
                  <a:schemeClr val="dk1"/>
                </a:solidFill>
              </a:rPr>
              <a:t> for extensibility</a:t>
            </a:r>
            <a:endParaRPr b="1"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77725" y="1790050"/>
            <a:ext cx="41943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7200">
                <a:solidFill>
                  <a:schemeClr val="dk1"/>
                </a:solidFill>
              </a:rPr>
              <a:t>D</a:t>
            </a:r>
            <a:r>
              <a:rPr lang="en" sz="7200"/>
              <a:t>EMO</a:t>
            </a:r>
            <a:endParaRPr sz="7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Implemented Features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57200" y="1063225"/>
            <a:ext cx="8345100" cy="38253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Network &amp; Physical Layer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Bundle protocol with unique IDs, TTL, and expiration handling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RF link modeling: SNR, path loss, Ka/Ku-band profiles, weather attenuation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Contact capacity derived from data rate × window duration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Routing Algorithms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Epidemic (flood replication), PRoPHET (probabilistic), Spray-and-Wait (copy-limited)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Buffer Management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Configurable sizes per node; drop policies: oldest-first, largest-first, random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Orbital Mechanics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Keplerian propagation with ECI/ECEF conversion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Contact window prediction via satellite-ground visibility calculations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Implemented Features Cont.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457200" y="1063375"/>
            <a:ext cx="8229600" cy="37440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3D Interactive GUI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Real-time satellite constellation on rotating Earth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Animated packet transfers (pulsing arcs on active links)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Contact Gantt charts and per-node buffer utilization bars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Ground station markers, run controls (start/stop/pause, time acceleration)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Live Metrics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Delivery ratio, throughput, buffer utilization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Experiment Framework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E1: Protocol comparison | E2: Buffer size sweeps | E3: TTL configuration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Preset endpoints for reproducible experiments</a:t>
            </a:r>
            <a:endParaRPr sz="1600">
              <a:solidFill>
                <a:schemeClr val="dk1"/>
              </a:solidFill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Limitations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457200" y="1063225"/>
            <a:ext cx="8229600" cy="38742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Scope Constraints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Satellite-only focus (no terrestrial wireless/BLE/Wi-Fi)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Orbital mechanics only (no random waypoint mobility)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ISL routing implemented but visualization removed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Incomplete Features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Contact plan CSV upload endpoint (not integrated)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Mid-run plan changes (limited testing)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Custody timer resume after partition healing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Visualization Gaps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Delay CDF calculated but not displayed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Overhead ratio computed but not prominent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Basic metrics only (no confidence intervals)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Node scaling experiments (manual, not automated)</a:t>
            </a:r>
            <a:endParaRPr sz="15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OSI Model Implementation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L7: REST API, simulation framework, experiment tools, 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L6: Bundle serialization, JSON encoding, Pydantic models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L5: Contact window management, predictive scheduling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L4: Bundle Protocol with lifetime, priority, custody flags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L3: Epidemic, PRoPHET, Spray-and-Wait routing with DTN addressing (EIDs)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L2: Store-and-forward frames, contact-based transmission</a:t>
            </a:r>
            <a:endParaRPr/>
          </a:p>
          <a:p>
            <a:pPr indent="-2540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L1: RF link budget modeling, frequency bands, weather effects (all simulated)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Abstractions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57200" y="1063225"/>
            <a:ext cx="8229600" cy="36957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Network Protocols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explicit MAC layer or handshake overhead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Simplified custody transfer (no acceptance/refusal messages)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bundle fragmentation or reassembly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Discovery &amp; Routing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Contacts from orbital prediction, not dynamic discovery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Generic data rates (no BLE/Wi-Fi profiles)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Deterministic orbital mechanics vs. community mobility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Data Handling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Bundles as atomic units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Implicit duplicate suppression via ID tracking</a:t>
            </a:r>
            <a:endParaRPr sz="16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/>
              <a:t>Practical </a:t>
            </a:r>
            <a:r>
              <a:rPr lang="en" sz="4400">
                <a:solidFill>
                  <a:schemeClr val="dk1"/>
                </a:solidFill>
              </a:rPr>
              <a:t>Applications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57200" y="1200150"/>
            <a:ext cx="5773500" cy="38217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" sz="2400">
                <a:solidFill>
                  <a:schemeClr val="dk1"/>
                </a:solidFill>
              </a:rPr>
              <a:t>• </a:t>
            </a:r>
            <a:r>
              <a:rPr lang="en" sz="2400">
                <a:solidFill>
                  <a:schemeClr val="dk1"/>
                </a:solidFill>
              </a:rPr>
              <a:t>Educational tool for teaching DTN and satellite networking concepts</a:t>
            </a:r>
            <a:endParaRPr sz="24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400">
                <a:solidFill>
                  <a:schemeClr val="dk1"/>
                </a:solidFill>
              </a:rPr>
              <a:t>• </a:t>
            </a:r>
            <a:r>
              <a:rPr lang="en" sz="2400">
                <a:solidFill>
                  <a:schemeClr val="dk1"/>
                </a:solidFill>
              </a:rPr>
              <a:t>DTN routing algorithm research and comparison</a:t>
            </a:r>
            <a:endParaRPr sz="24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400">
                <a:solidFill>
                  <a:schemeClr val="dk1"/>
                </a:solidFill>
              </a:rPr>
              <a:t>• </a:t>
            </a:r>
            <a:r>
              <a:rPr lang="en" sz="2400">
                <a:solidFill>
                  <a:schemeClr val="dk1"/>
                </a:solidFill>
              </a:rPr>
              <a:t>Satellite constellation design optimization</a:t>
            </a:r>
            <a:endParaRPr sz="24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400">
                <a:solidFill>
                  <a:schemeClr val="dk1"/>
                </a:solidFill>
              </a:rPr>
              <a:t>• </a:t>
            </a:r>
            <a:r>
              <a:rPr lang="en" sz="2400">
                <a:solidFill>
                  <a:schemeClr val="dk1"/>
                </a:solidFill>
              </a:rPr>
              <a:t>Ground station placement analysis</a:t>
            </a:r>
            <a:endParaRPr sz="24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400">
                <a:solidFill>
                  <a:schemeClr val="dk1"/>
                </a:solidFill>
              </a:rPr>
              <a:t>• </a:t>
            </a:r>
            <a:r>
              <a:rPr lang="en" sz="2400">
                <a:solidFill>
                  <a:schemeClr val="dk1"/>
                </a:solidFill>
              </a:rPr>
              <a:t>Weather impact studies on satellite communications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29" name="Google Shape;129;p24" title="Space_weather_effects_pilla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100" y="884825"/>
            <a:ext cx="3199075" cy="227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 title="ijae1235692-fig-0002-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825" y="3160825"/>
            <a:ext cx="1129700" cy="173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Future Work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solidFill>
            <a:srgbClr val="0C1626">
              <a:alpha val="8239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     </a:t>
            </a:r>
            <a:r>
              <a:rPr lang="en" sz="2000">
                <a:solidFill>
                  <a:schemeClr val="dk1"/>
                </a:solidFill>
              </a:rPr>
              <a:t>• Add </a:t>
            </a:r>
            <a:r>
              <a:rPr i="1" lang="en" sz="2000">
                <a:solidFill>
                  <a:schemeClr val="dk1"/>
                </a:solidFill>
              </a:rPr>
              <a:t>MaxProp, RAPID routing algorithms</a:t>
            </a:r>
            <a:endParaRPr sz="20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640"/>
              </a:spcBef>
              <a:spcAft>
                <a:spcPts val="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• Security features (bundle encryption, authentication)</a:t>
            </a:r>
            <a:endParaRPr sz="20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• Mobile ground stations</a:t>
            </a:r>
            <a:endParaRPr sz="20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• Machine learning-based routing optimization</a:t>
            </a:r>
            <a:endParaRPr sz="20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• VR visualization interface</a:t>
            </a:r>
            <a:endParaRPr sz="20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lang="en" sz="2000">
                <a:solidFill>
                  <a:schemeClr val="dk1"/>
                </a:solidFill>
              </a:rPr>
              <a:t>• Real hardware/tracking system integration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131375" y="3918400"/>
            <a:ext cx="38034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